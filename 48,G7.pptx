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73" r:id="rId4"/>
    <p:sldId id="274" r:id="rId5"/>
    <p:sldId id="258" r:id="rId6"/>
    <p:sldId id="261" r:id="rId7"/>
    <p:sldId id="270" r:id="rId8"/>
    <p:sldId id="272" r:id="rId9"/>
    <p:sldId id="271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3C328-B4F7-9821-E59B-53BCDF9A7F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5C76DF-0F3E-F689-3992-73289F2E1A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74639-3C00-6B48-E8CE-24024C2F2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C3AA4-5532-45AF-BAA7-E94F845D3B39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C8B13-28BA-BFB2-A3D2-235F7C9C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B47FD-6950-F505-1DC8-97E060DD9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1411-B061-40E6-9862-875D25EF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93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572BA-D70E-46A4-623F-B4E6043A5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EE38-0942-9679-6A52-B1C79AB06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83CDE-1245-C4F0-D071-2A569DE2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C3AA4-5532-45AF-BAA7-E94F845D3B39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E7D1B-B4E3-3753-0EC2-549628E8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85290-7264-DF04-4FCB-7EC1B6D96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1411-B061-40E6-9862-875D25EF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394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40892-413D-03E3-00D5-642AD1B9D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EAF71-DB0A-93DE-F2A2-6EF9D7562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2F3E0-57E0-AFBD-6707-D7E344EBE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C3AA4-5532-45AF-BAA7-E94F845D3B39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78A6B-14FE-711E-A577-4760D7260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937F8-BE21-6C43-6D73-D28C5313F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1411-B061-40E6-9862-875D25EF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571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ECFE1-ED86-0036-F845-C990A4A9F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6D598-20B9-537A-BB2C-EE107AAC40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305DF3-A21B-F0D7-A8B2-AA714137F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F49A33-BEDF-E042-FE2D-F387FBABD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C3AA4-5532-45AF-BAA7-E94F845D3B39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E37E5-A136-B7A5-53BB-DF64FEBD5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85120-C41F-843A-7E11-E4A1BEDA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1411-B061-40E6-9862-875D25EF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926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5DEE8-F150-C2F1-B4B5-98FE81AA7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423204-B2D5-83CB-69BB-13EEF41C4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A7582-5A39-3A88-C31F-A155798C9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A86ED5-E233-C4B1-2C98-511140EAF6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93C405-DC14-3BE9-C0F2-35E057EB7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ED0268-8CFD-BFA4-2254-CDE5A1E01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C3AA4-5532-45AF-BAA7-E94F845D3B39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89B6B2-7B55-52B0-53D0-BEB3333A1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B0490-0BB1-52B7-7F3D-FB33D825B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1411-B061-40E6-9862-875D25EF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82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754DB-2882-DD95-5263-3342155C2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E2BEB5-2E32-6D34-2273-A9D9A6496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C3AA4-5532-45AF-BAA7-E94F845D3B39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5D43F8-177A-E3D1-673C-30A557455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00EDF-CA00-5007-9AF9-E65AC9A2E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1411-B061-40E6-9862-875D25EF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210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10104B-20EB-6EBC-AAD9-98A09326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C3AA4-5532-45AF-BAA7-E94F845D3B39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3FCB0D-B47A-0F8E-BA0A-D449A3431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C371B-9DD8-AC81-8367-E3EA4D6C7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1411-B061-40E6-9862-875D25EF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793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C0CDA-A9BC-250E-B7E0-B9EF66ECA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BAA17-0785-106A-A1C6-F626DB271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A7E91-5AF8-38A3-D91E-141206502E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30D159-38E0-5868-D1AE-9E25D175C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C3AA4-5532-45AF-BAA7-E94F845D3B39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7455A-A282-85E7-BDDD-01F3A6A3E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2B14E-909E-0F73-9058-A0B1EFC66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1411-B061-40E6-9862-875D25EF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601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55DDC-10D5-C884-736F-9EF544059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4F9804-FF92-237D-8C4B-03979FB312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FE6EB-D595-A370-CC38-D3D486EA1D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0B42C-8EB5-4DDB-D492-581461F5C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C3AA4-5532-45AF-BAA7-E94F845D3B39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BD201-1396-4409-1A4B-F61DFC69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AA6E5-D8DB-D025-4024-D22FFA070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1411-B061-40E6-9862-875D25EF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325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565EA-4811-0975-D4E7-E9158B5BD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EE8AA-7D8E-318C-E8DD-F1158904C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877ED-51E1-3084-B9D5-ED59F4DF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C3AA4-5532-45AF-BAA7-E94F845D3B39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7F763-8CEE-5B95-BCFD-D21EF70E6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7D099-6F33-544B-5639-B36D12E8F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1411-B061-40E6-9862-875D25EF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110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73CF16-15B4-F49A-1B7A-0617F6687D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83EC8-2BD1-04F0-1132-4D900C78C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BE321-76FA-CB94-AC0E-B8B1564FF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C3AA4-5532-45AF-BAA7-E94F845D3B39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8B940-FB5D-262F-6991-14412F763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47CE0-BAC1-FED4-54BB-4F714F11F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1411-B061-40E6-9862-875D25EF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90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809CAC-2A59-81B7-4D20-F761A1FB9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FE3BE-C008-5751-02AB-1BB84DFCE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D14A0-FA34-0C48-6044-FC576182AA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2C3AA4-5532-45AF-BAA7-E94F845D3B39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BCB5D-F902-E09A-BBC5-CF7D30FD95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3E47E-443F-E63C-EECD-4C496A194A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D21411-B061-40E6-9862-875D25EF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139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6B0B0-F29B-D239-801E-C2BE9A86E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22747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RAJEEV GANDHI MEMORIAL COLLEGE OF ENGINEERING &amp; TECHNOLOGY (AUTONOMOUS)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 CSE (DATA SCIENCE)</a:t>
            </a: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E86DDF-884F-29FD-7432-F5E412965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5" y="2045110"/>
            <a:ext cx="10402529" cy="3883742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DOMAIN: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in Images and Videos Using OpenCV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A Comparative Study of Deep Learning and Traditional Computer Vision Techniques</a:t>
            </a:r>
          </a:p>
          <a:p>
            <a:pPr indent="-171450" algn="l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TEAM MEMBERS:					UNDER THE GUIDANCE OF: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J. Janardhan – 22091A3248			                Dr. K. Rangaswamy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P. Venkata Swathi – 22091A32G7	                              Associate  Professor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                            Dept  of CSE(DS)	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1B1CFA-5664-F835-8C79-CB7266824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59" y="416814"/>
            <a:ext cx="1416373" cy="141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19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A4A54-910F-360C-2351-45D0E91CE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D1489-3421-E698-BF4E-4430DF276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develop a unified object detection system capable of processing both images and videos.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state-of-the-art models such as YOLOv8, Faster R-CNN, and SSD to analyze trade-offs between detection accuracy and speed.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dashboard offers an intuitive interface for real-time testing and performance evaluation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6769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4E65-3184-BCAC-7AC8-D1A224D4D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70218-9BBD-071B-A458-39F553D11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and classify multiple objects in images and videos.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deep learning-based models (YOLOv8, Faster R-CNN, SSD).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real-time dashboard using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OpenCV.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 performance using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precision, recall, and FPS metrics.</a:t>
            </a:r>
          </a:p>
          <a:p>
            <a:pPr>
              <a:lnSpc>
                <a:spcPct val="150000"/>
              </a:lnSpc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trade-offs between detection speed and accuracy.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325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B5435-E1CA-A372-49CB-8B3C015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Literature survey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4F9936D-94A8-2D7A-624A-491F4BAF67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9771845"/>
              </p:ext>
            </p:extLst>
          </p:nvPr>
        </p:nvGraphicFramePr>
        <p:xfrm>
          <a:off x="4502428" y="1006800"/>
          <a:ext cx="7225751" cy="4844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429">
                  <a:extLst>
                    <a:ext uri="{9D8B030D-6E8A-4147-A177-3AD203B41FA5}">
                      <a16:colId xmlns:a16="http://schemas.microsoft.com/office/drawing/2014/main" val="2777893757"/>
                    </a:ext>
                  </a:extLst>
                </a:gridCol>
                <a:gridCol w="1004258">
                  <a:extLst>
                    <a:ext uri="{9D8B030D-6E8A-4147-A177-3AD203B41FA5}">
                      <a16:colId xmlns:a16="http://schemas.microsoft.com/office/drawing/2014/main" val="954802166"/>
                    </a:ext>
                  </a:extLst>
                </a:gridCol>
                <a:gridCol w="1025059">
                  <a:extLst>
                    <a:ext uri="{9D8B030D-6E8A-4147-A177-3AD203B41FA5}">
                      <a16:colId xmlns:a16="http://schemas.microsoft.com/office/drawing/2014/main" val="2093730634"/>
                    </a:ext>
                  </a:extLst>
                </a:gridCol>
                <a:gridCol w="964737">
                  <a:extLst>
                    <a:ext uri="{9D8B030D-6E8A-4147-A177-3AD203B41FA5}">
                      <a16:colId xmlns:a16="http://schemas.microsoft.com/office/drawing/2014/main" val="4203295242"/>
                    </a:ext>
                  </a:extLst>
                </a:gridCol>
                <a:gridCol w="1576278">
                  <a:extLst>
                    <a:ext uri="{9D8B030D-6E8A-4147-A177-3AD203B41FA5}">
                      <a16:colId xmlns:a16="http://schemas.microsoft.com/office/drawing/2014/main" val="928254964"/>
                    </a:ext>
                  </a:extLst>
                </a:gridCol>
                <a:gridCol w="1334990">
                  <a:extLst>
                    <a:ext uri="{9D8B030D-6E8A-4147-A177-3AD203B41FA5}">
                      <a16:colId xmlns:a16="http://schemas.microsoft.com/office/drawing/2014/main" val="3219130440"/>
                    </a:ext>
                  </a:extLst>
                </a:gridCol>
              </a:tblGrid>
              <a:tr h="4972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Title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Author &amp; Year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Algorithms Used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Metrics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Objectives / Findings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Drawbacks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extLst>
                  <a:ext uri="{0D108BD9-81ED-4DB2-BD59-A6C34878D82A}">
                    <a16:rowId xmlns:a16="http://schemas.microsoft.com/office/drawing/2014/main" val="1702025776"/>
                  </a:ext>
                </a:extLst>
              </a:tr>
              <a:tr h="159549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YOLOv8: A Real-Time Object Detection Model</a:t>
                      </a:r>
                      <a:endParaRPr lang="en-US" sz="140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Ultralytics, 2023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YOLOv8 (Single-Stage CNN)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mAP, FPS, Precision, Recall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• Detects multiple objects in real time.• High accuracy and speed.• Efficient for large-scale datasets.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• Requires GPU for better performance.• Limited accuracy for very small objects.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extLst>
                  <a:ext uri="{0D108BD9-81ED-4DB2-BD59-A6C34878D82A}">
                    <a16:rowId xmlns:a16="http://schemas.microsoft.com/office/drawing/2014/main" val="2281884494"/>
                  </a:ext>
                </a:extLst>
              </a:tr>
              <a:tr h="13758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Faster R-CNN for Object Detection</a:t>
                      </a:r>
                      <a:endParaRPr lang="en-US" sz="140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Ren et al., 2015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CNN + Region Proposal Network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mAP, IoU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• Achieves high precision with RPN.• Effective for complex scenes and multiple objects.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• Slower compared to single-stage models.• High computational cost.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extLst>
                  <a:ext uri="{0D108BD9-81ED-4DB2-BD59-A6C34878D82A}">
                    <a16:rowId xmlns:a16="http://schemas.microsoft.com/office/drawing/2014/main" val="3867381939"/>
                  </a:ext>
                </a:extLst>
              </a:tr>
              <a:tr h="13758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SSD: Single Shot MultiBox Detector</a:t>
                      </a:r>
                      <a:endParaRPr lang="en-US" sz="140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Liu et al., 2016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CNN-based Single Stage Detector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mAP, FPS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• Good balance between accuracy and speed.• Lightweight for embedded systems.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• Performance drops for small objects.• Less accurate than two-stage models.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84" marR="9984" marT="9984" marB="0" anchor="ctr"/>
                </a:tc>
                <a:extLst>
                  <a:ext uri="{0D108BD9-81ED-4DB2-BD59-A6C34878D82A}">
                    <a16:rowId xmlns:a16="http://schemas.microsoft.com/office/drawing/2014/main" val="4103818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3128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DA560-3135-E523-AE2A-84719C33B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Core Technologies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F0CFEB-8E51-B9E4-EE27-EB157618C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&amp; User Interface: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with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responsive and interactive user experience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&amp; Model Implementation: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Torchvision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the foundational frameworks for deep     learning models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&amp; Image Processing: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8007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868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64C37-6984-7155-B2A1-A730AFA81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Workflow for Image and Video Processing</a:t>
            </a:r>
            <a:br>
              <a:rPr lang="en-US" sz="2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9" name="Content Placeholder 38">
            <a:extLst>
              <a:ext uri="{FF2B5EF4-FFF2-40B4-BE49-F238E27FC236}">
                <a16:creationId xmlns:a16="http://schemas.microsoft.com/office/drawing/2014/main" id="{1C9C2BF3-B316-6E12-D336-42F9991C5F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306786"/>
            <a:ext cx="7188199" cy="424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187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B6B94-8045-CBB0-C297-181CB4483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MODEL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FB69F-7FA1-C12E-39D8-FA0EE9BFA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8697"/>
            <a:ext cx="10515600" cy="492826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Computer Vision techniques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as: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Haar Cascade Classifier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HOG + SVM (Histogram of Oriented Gradients with Support Vector Machine)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 / ORB feature detection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well only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predefined objects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faces, cars).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Fails with background noise or complex scenes.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handle multiple object classes simultaneously.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scalability and no real-time adaptability.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8522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6513C9-CFF6-F605-410B-A02CEDE56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en-IN" sz="340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3080A-1A4C-B07D-2772-4A6EAA328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anchor="t">
            <a:normAutofit/>
          </a:bodyPr>
          <a:lstStyle/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COCO (Common Objects in Context)</a:t>
            </a:r>
          </a:p>
          <a:p>
            <a:pPr marL="0" indent="0">
              <a:buNone/>
            </a:pP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Details: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Classes: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80 categories</a:t>
            </a:r>
          </a:p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Format: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JPEG images with annotations</a:t>
            </a:r>
          </a:p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Resolution: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640×640 (standard for YOLOv8)</a:t>
            </a:r>
          </a:p>
          <a:p>
            <a:endParaRPr lang="en-IN" sz="1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AD1518-49C4-8A6F-D6BB-09DE4FA93F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36" r="15925" b="-1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1182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CBB14-D32E-C584-CB7B-214D080BC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74" y="706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4C9412-5A91-519A-456C-D18878DF2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6181"/>
            <a:ext cx="10515600" cy="478078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Employs Deep Learning-based detection models: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(You Only Look Once)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R-CNN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SSD (Single Shot Detector)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Frameworks: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Torchvision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OpenCV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in a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for real-time image/video processing.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and speed (real-time detection).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across diverse datasets (COCO, Pascal VOC).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both image and video inputs.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visualization and performance metrics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FPS).</a:t>
            </a:r>
          </a:p>
        </p:txBody>
      </p:sp>
    </p:spTree>
    <p:extLst>
      <p:ext uri="{BB962C8B-B14F-4D97-AF65-F5344CB8AC3E}">
        <p14:creationId xmlns:p14="http://schemas.microsoft.com/office/powerpoint/2010/main" val="977039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6CE0A-FAF7-D699-4039-7B31C2C37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EEBB8-74FF-A52A-141D-83F9A2F6E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 Metrics: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(mean Average Precision)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&amp; Recall.</a:t>
            </a:r>
          </a:p>
          <a:p>
            <a:pPr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Metric: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FPS (Frames Per Second)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79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96D01-AFCD-52B4-1826-6A073383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Encountered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0F71B-2255-8107-7AEA-0EC7F022D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Size Management: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size difference between various models, such as YOLO-Large versus YOLO-Nano.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Optimization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Continuously balancing  demands of high accuracy and fast inference time.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Hurdles: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Overcoming issues related to memory constraints and performance differences between GPU and CPU environments.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557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F7762-CA08-19F1-3BF4-6E2EFB024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E90F6-7369-0490-4784-CBB689015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Tracking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 Segmentation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&amp; Mobile Deployment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aims to make the system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smarter, and deployable on real-world platforms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advanced object detection and tracking applications.</a:t>
            </a:r>
          </a:p>
          <a:p>
            <a:pPr>
              <a:lnSpc>
                <a:spcPct val="15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569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6F849F-7A8F-3269-6482-471ACA221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291BCE9-2AE4-361C-58FC-2CE6F0F68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fully functional and interactive object detection dashboard.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multiple models, including YOLOv8 and various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Torchvision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delivers real-time inference on user-uploaded images and videos through a user-friendly interface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922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8F4F1-9445-AB22-8EC0-0F9C0CBE9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A207C-B618-16C3-49CC-11B866EBF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130891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754</Words>
  <Application>Microsoft Office PowerPoint</Application>
  <PresentationFormat>Widescreen</PresentationFormat>
  <Paragraphs>111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Aptos Narrow</vt:lpstr>
      <vt:lpstr>Arial</vt:lpstr>
      <vt:lpstr>Calibri</vt:lpstr>
      <vt:lpstr>Times New Roman</vt:lpstr>
      <vt:lpstr>Office Theme</vt:lpstr>
      <vt:lpstr>RAJEEV GANDHI MEMORIAL COLLEGE OF ENGINEERING &amp; TECHNOLOGY (AUTONOMOUS)  DEPARTMENT OF  CSE (DATA SCIENCE)</vt:lpstr>
      <vt:lpstr>ABSTRACT</vt:lpstr>
      <vt:lpstr>OBJECTIVES</vt:lpstr>
      <vt:lpstr>Literature survey</vt:lpstr>
      <vt:lpstr>System Architecture &amp; Core Technologies</vt:lpstr>
      <vt:lpstr>System Workflow for Image and Video Processing </vt:lpstr>
      <vt:lpstr>EXISTING MODEL </vt:lpstr>
      <vt:lpstr>DATASET</vt:lpstr>
      <vt:lpstr>PROPOSED MODEL</vt:lpstr>
      <vt:lpstr>Performance Evaluation</vt:lpstr>
      <vt:lpstr>Challenges Encountered</vt:lpstr>
      <vt:lpstr>Future Enhancements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Janardhan Jillela</dc:creator>
  <cp:lastModifiedBy>Janardhan Jillela</cp:lastModifiedBy>
  <cp:revision>10</cp:revision>
  <dcterms:created xsi:type="dcterms:W3CDTF">2025-09-22T17:25:12Z</dcterms:created>
  <dcterms:modified xsi:type="dcterms:W3CDTF">2025-10-20T12:58:00Z</dcterms:modified>
</cp:coreProperties>
</file>